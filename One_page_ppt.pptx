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61" autoAdjust="0"/>
  </p:normalViewPr>
  <p:slideViewPr>
    <p:cSldViewPr snapToGrid="0">
      <p:cViewPr varScale="1">
        <p:scale>
          <a:sx n="106" d="100"/>
          <a:sy n="106" d="100"/>
        </p:scale>
        <p:origin x="7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B2714-5F77-4370-825A-FADE59C6C6B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B6CA6-966D-4C4D-B8F1-3A74D9ECC4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6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5B6CA6-966D-4C4D-B8F1-3A74D9ECC4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240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00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3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9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3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0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4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26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2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29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58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97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1ED43-D58D-4720-A24F-531848274B26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42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hyperlink" Target="mailto:san@sac.isro.gov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74918"/>
            <a:ext cx="5377544" cy="80553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Name: </a:t>
            </a:r>
            <a:r>
              <a:rPr lang="en-US" sz="1500" b="1" dirty="0" smtClean="0"/>
              <a:t>Deepak Kumar</a:t>
            </a:r>
            <a:endParaRPr lang="en-US" sz="1500" b="1" dirty="0"/>
          </a:p>
          <a:p>
            <a:pPr algn="just"/>
            <a:r>
              <a:rPr lang="en-US" sz="1500" b="1" dirty="0"/>
              <a:t>Designation:  </a:t>
            </a:r>
            <a:r>
              <a:rPr lang="en-US" sz="1500" b="1" dirty="0" smtClean="0"/>
              <a:t>Trainee (Internship)</a:t>
            </a:r>
            <a:endParaRPr lang="en-US" sz="1500" dirty="0"/>
          </a:p>
          <a:p>
            <a:pPr algn="just"/>
            <a:r>
              <a:rPr lang="en-US" sz="1500" b="1" dirty="0"/>
              <a:t>Institution:</a:t>
            </a:r>
            <a:r>
              <a:rPr lang="en-US" sz="1200" b="1" dirty="0"/>
              <a:t> </a:t>
            </a:r>
            <a:r>
              <a:rPr lang="en-US" sz="1200" b="1" dirty="0" smtClean="0"/>
              <a:t>National Institute of Technology, </a:t>
            </a:r>
            <a:r>
              <a:rPr lang="en-US" sz="1200" b="1" dirty="0" err="1" smtClean="0"/>
              <a:t>Agartala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7491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r>
              <a:rPr lang="en-IN" dirty="0" smtClean="0"/>
              <a:t> </a:t>
            </a:r>
            <a:r>
              <a:rPr lang="en-IN" dirty="0"/>
              <a:t>Project </a:t>
            </a:r>
            <a:r>
              <a:rPr lang="en-IN" dirty="0" smtClean="0"/>
              <a:t>Title: </a:t>
            </a:r>
            <a:r>
              <a:rPr lang="en-US" b="1" dirty="0" smtClean="0"/>
              <a:t>FPGA-Controlled </a:t>
            </a:r>
            <a:r>
              <a:rPr lang="en-US" b="1" dirty="0"/>
              <a:t>Infrared Imaging System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0887" y="1502354"/>
            <a:ext cx="10611853" cy="123868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500" b="1" dirty="0"/>
              <a:t>MAJOR OBJECTIVES: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500" b="1" dirty="0"/>
          </a:p>
          <a:p>
            <a:endParaRPr lang="en-US" sz="1500" b="1" dirty="0"/>
          </a:p>
          <a:p>
            <a:endParaRPr lang="en-US" sz="1500" b="1" dirty="0"/>
          </a:p>
          <a:p>
            <a:endParaRPr lang="en-US" sz="1500" b="1" dirty="0"/>
          </a:p>
        </p:txBody>
      </p:sp>
      <p:sp>
        <p:nvSpPr>
          <p:cNvPr id="7" name="Rectangle 6"/>
          <p:cNvSpPr/>
          <p:nvPr/>
        </p:nvSpPr>
        <p:spPr>
          <a:xfrm>
            <a:off x="10611853" y="674913"/>
            <a:ext cx="1580147" cy="14907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0" y="2741034"/>
            <a:ext cx="3995056" cy="411696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500" b="1" dirty="0" smtClean="0"/>
          </a:p>
          <a:p>
            <a:pPr algn="just"/>
            <a:endParaRPr lang="en-US" sz="1500" b="1" dirty="0"/>
          </a:p>
          <a:p>
            <a:pPr algn="just"/>
            <a:r>
              <a:rPr lang="en-US" sz="1500" b="1" dirty="0" smtClean="0"/>
              <a:t>METHODOLOGY </a:t>
            </a:r>
            <a:r>
              <a:rPr lang="en-US" sz="1500" b="1" dirty="0"/>
              <a:t>FLOW CHART:  </a:t>
            </a:r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IN" sz="1500" b="1" dirty="0"/>
          </a:p>
        </p:txBody>
      </p:sp>
      <p:sp>
        <p:nvSpPr>
          <p:cNvPr id="9" name="Rectangle 8"/>
          <p:cNvSpPr/>
          <p:nvPr/>
        </p:nvSpPr>
        <p:spPr>
          <a:xfrm>
            <a:off x="3636401" y="2753377"/>
            <a:ext cx="8555599" cy="323649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r>
              <a:rPr lang="en-US" sz="1500" b="1" dirty="0" smtClean="0"/>
              <a:t>RESULTS/MAJOR </a:t>
            </a:r>
            <a:r>
              <a:rPr lang="en-US" sz="1500" b="1" dirty="0"/>
              <a:t>FINDINGS:    </a:t>
            </a:r>
          </a:p>
          <a:p>
            <a:pPr algn="just"/>
            <a:endParaRPr lang="en-US" sz="15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dirty="0" smtClean="0"/>
          </a:p>
          <a:p>
            <a:pPr algn="just"/>
            <a:endParaRPr lang="en-US" sz="1500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IN" sz="1500" b="1" dirty="0"/>
          </a:p>
        </p:txBody>
      </p:sp>
      <p:sp>
        <p:nvSpPr>
          <p:cNvPr id="10" name="Rectangle 9"/>
          <p:cNvSpPr/>
          <p:nvPr/>
        </p:nvSpPr>
        <p:spPr>
          <a:xfrm>
            <a:off x="3636400" y="5949461"/>
            <a:ext cx="8555600" cy="90236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CONCLUSION:</a:t>
            </a:r>
          </a:p>
          <a:p>
            <a:pPr algn="just"/>
            <a:r>
              <a:rPr lang="en-US" sz="1500" b="1" dirty="0"/>
              <a:t> </a:t>
            </a:r>
          </a:p>
          <a:p>
            <a:pPr algn="just"/>
            <a:endParaRPr lang="en-IN" sz="1500" b="1" dirty="0"/>
          </a:p>
        </p:txBody>
      </p:sp>
      <p:pic>
        <p:nvPicPr>
          <p:cNvPr id="16" name="Picture 1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6" y="38102"/>
            <a:ext cx="675773" cy="5755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5366656" y="674912"/>
            <a:ext cx="5245197" cy="80554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Guide: </a:t>
            </a:r>
            <a:r>
              <a:rPr lang="en-US" sz="1500" b="1" dirty="0" smtClean="0"/>
              <a:t>Dr. </a:t>
            </a:r>
            <a:r>
              <a:rPr lang="en-US" sz="1500" b="1" dirty="0" err="1" smtClean="0"/>
              <a:t>Sandip</a:t>
            </a:r>
            <a:r>
              <a:rPr lang="en-US" sz="1500" b="1" dirty="0" smtClean="0"/>
              <a:t> Paul</a:t>
            </a:r>
            <a:endParaRPr lang="en-US" sz="1500" b="1" dirty="0"/>
          </a:p>
          <a:p>
            <a:pPr algn="just"/>
            <a:r>
              <a:rPr lang="en-US" sz="1500" b="1" dirty="0"/>
              <a:t>Contact e-mail: </a:t>
            </a:r>
            <a:r>
              <a:rPr lang="en-IN" dirty="0">
                <a:hlinkClick r:id="rId4"/>
              </a:rPr>
              <a:t>san@sac.isro.gov.in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816429" y="-4"/>
            <a:ext cx="10412185" cy="67491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0611853" y="2165684"/>
            <a:ext cx="1580147" cy="55344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 smtClean="0"/>
              <a:t>20 Jan 2025 </a:t>
            </a:r>
            <a:r>
              <a:rPr lang="en-US" sz="1500" b="1" dirty="0"/>
              <a:t>to </a:t>
            </a:r>
          </a:p>
          <a:p>
            <a:pPr algn="ctr"/>
            <a:r>
              <a:rPr lang="en-US" sz="1500" b="1" dirty="0"/>
              <a:t>7</a:t>
            </a:r>
            <a:r>
              <a:rPr lang="en-US" sz="1500" b="1" dirty="0" smtClean="0"/>
              <a:t> July 2025</a:t>
            </a:r>
            <a:endParaRPr lang="en-IN" sz="1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2DFE1-7F08-499E-8021-766BAA448626}"/>
              </a:ext>
            </a:extLst>
          </p:cNvPr>
          <p:cNvSpPr txBox="1"/>
          <p:nvPr/>
        </p:nvSpPr>
        <p:spPr>
          <a:xfrm>
            <a:off x="9574823" y="149469"/>
            <a:ext cx="2004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SRTD-RTMG-MISA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740" y="685858"/>
            <a:ext cx="1551211" cy="1486971"/>
          </a:xfrm>
          <a:prstGeom prst="rect">
            <a:avLst/>
          </a:prstGeom>
        </p:spPr>
      </p:pic>
      <p:cxnSp>
        <p:nvCxnSpPr>
          <p:cNvPr id="79" name="Straight Arrow Connector 78"/>
          <p:cNvCxnSpPr/>
          <p:nvPr/>
        </p:nvCxnSpPr>
        <p:spPr>
          <a:xfrm>
            <a:off x="1641523" y="3672074"/>
            <a:ext cx="0" cy="26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60952" y="3970223"/>
            <a:ext cx="3262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Bias and Power Supply Design</a:t>
            </a:r>
            <a:br>
              <a:rPr lang="en-IN" sz="1400" dirty="0" smtClean="0"/>
            </a:br>
            <a:r>
              <a:rPr lang="en-IN" sz="1400" dirty="0" smtClean="0"/>
              <a:t>RHFL4913A LDOs 9 Voltages</a:t>
            </a:r>
            <a:endParaRPr lang="en-IN" sz="1400" dirty="0"/>
          </a:p>
        </p:txBody>
      </p:sp>
      <p:sp>
        <p:nvSpPr>
          <p:cNvPr id="81" name="TextBox 80"/>
          <p:cNvSpPr txBox="1"/>
          <p:nvPr/>
        </p:nvSpPr>
        <p:spPr>
          <a:xfrm>
            <a:off x="160952" y="3348909"/>
            <a:ext cx="32629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IR Detector (ULIS 03 19 1 </a:t>
            </a:r>
            <a:r>
              <a:rPr lang="en-US" sz="1400" dirty="0" smtClean="0"/>
              <a:t>Micro-bolometer</a:t>
            </a:r>
            <a:r>
              <a:rPr lang="en-US" sz="1400" dirty="0"/>
              <a:t>)</a:t>
            </a:r>
          </a:p>
          <a:p>
            <a:endParaRPr lang="en-IN" dirty="0"/>
          </a:p>
        </p:txBody>
      </p:sp>
      <p:sp>
        <p:nvSpPr>
          <p:cNvPr id="82" name="TextBox 81"/>
          <p:cNvSpPr txBox="1"/>
          <p:nvPr/>
        </p:nvSpPr>
        <p:spPr>
          <a:xfrm>
            <a:off x="212485" y="4755053"/>
            <a:ext cx="3262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Clock &amp; Control Signal Generation </a:t>
            </a:r>
            <a:r>
              <a:rPr lang="en-IN" sz="1400" dirty="0" smtClean="0"/>
              <a:t> </a:t>
            </a:r>
            <a:r>
              <a:rPr lang="en-IN" sz="1400" dirty="0"/>
              <a:t>(Using FPGA: MC, INT, RESET, </a:t>
            </a:r>
            <a:r>
              <a:rPr lang="en-IN" sz="1400" dirty="0" smtClean="0"/>
              <a:t>SERDAT)</a:t>
            </a:r>
            <a:endParaRPr lang="en-IN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160952" y="5439179"/>
            <a:ext cx="3262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Detector Data </a:t>
            </a:r>
            <a:r>
              <a:rPr lang="en-US" sz="1400" dirty="0"/>
              <a:t>Capture &amp; </a:t>
            </a:r>
            <a:r>
              <a:rPr lang="en-US" sz="1400" dirty="0" err="1" smtClean="0"/>
              <a:t>Demultiplex</a:t>
            </a:r>
            <a:r>
              <a:rPr lang="en-US" sz="1400" dirty="0" smtClean="0"/>
              <a:t> (12-bit </a:t>
            </a:r>
            <a:r>
              <a:rPr lang="en-US" sz="1400" dirty="0"/>
              <a:t>Pixel from 6-bit Bus) </a:t>
            </a:r>
            <a:endParaRPr lang="en-IN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160952" y="6123305"/>
            <a:ext cx="3262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Temperature controlled electronics card Setup</a:t>
            </a:r>
            <a:endParaRPr lang="en-IN" sz="1400" dirty="0"/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1641523" y="4493443"/>
            <a:ext cx="0" cy="26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1641523" y="5213778"/>
            <a:ext cx="0" cy="26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1641523" y="5936614"/>
            <a:ext cx="0" cy="26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9912" y="1771674"/>
            <a:ext cx="10582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develop an infrared imaging system using the ULIS 03 19 1 </a:t>
            </a:r>
            <a:r>
              <a:rPr lang="en-IN" dirty="0" smtClean="0"/>
              <a:t>micro-bolometer</a:t>
            </a:r>
            <a:r>
              <a:rPr lang="en-IN" dirty="0"/>
              <a:t>. To design FPGA logic for synchronized control signal </a:t>
            </a:r>
            <a:r>
              <a:rPr lang="en-IN" dirty="0" smtClean="0"/>
              <a:t>generation(RESET, INT, SERDAT, MC) </a:t>
            </a:r>
            <a:r>
              <a:rPr lang="en-IN" dirty="0"/>
              <a:t>and pixel data </a:t>
            </a:r>
            <a:r>
              <a:rPr lang="en-IN" dirty="0" smtClean="0"/>
              <a:t>acquisition. Developing of Temperature Controlled Electronics Card for controlling detector internal temperature.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07198" y="3087139"/>
            <a:ext cx="81641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All </a:t>
            </a:r>
            <a:r>
              <a:rPr lang="en-US" dirty="0"/>
              <a:t>nine detector biasing voltages were successfully generated using RHFL4913A LDOs. </a:t>
            </a:r>
            <a:endParaRPr lang="en-US" dirty="0" smtClean="0"/>
          </a:p>
          <a:p>
            <a:r>
              <a:rPr lang="en-US" dirty="0" smtClean="0"/>
              <a:t>2. </a:t>
            </a:r>
            <a:r>
              <a:rPr lang="en-US" dirty="0"/>
              <a:t>FPGA logic (VHDL) was successfully implemented for detector interfacing and timing control. </a:t>
            </a:r>
            <a:endParaRPr lang="en-US" dirty="0" smtClean="0"/>
          </a:p>
          <a:p>
            <a:r>
              <a:rPr lang="en-US" dirty="0" smtClean="0"/>
              <a:t>3. </a:t>
            </a:r>
            <a:r>
              <a:rPr lang="en-US" dirty="0"/>
              <a:t>Four key clocks—RESET, INT, MC, and SERDAT—were generated with precise synchronization. </a:t>
            </a:r>
            <a:endParaRPr lang="en-US" dirty="0" smtClean="0"/>
          </a:p>
          <a:p>
            <a:r>
              <a:rPr lang="en-US" dirty="0" smtClean="0"/>
              <a:t>4. </a:t>
            </a:r>
            <a:r>
              <a:rPr lang="en-US" dirty="0"/>
              <a:t>Successfully captured </a:t>
            </a:r>
            <a:r>
              <a:rPr lang="en-US" dirty="0" smtClean="0"/>
              <a:t>detector </a:t>
            </a:r>
            <a:r>
              <a:rPr lang="en-US" dirty="0"/>
              <a:t>data and reconstructed it into 12-bit per pixel thermal frames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5. Made Setup of Temperature Control Card using MAX1978 IC for controlling Detector </a:t>
            </a:r>
            <a:r>
              <a:rPr lang="en-US" dirty="0" smtClean="0"/>
              <a:t>TEC.</a:t>
            </a:r>
            <a:endParaRPr lang="en-IN" dirty="0"/>
          </a:p>
        </p:txBody>
      </p:sp>
      <p:sp>
        <p:nvSpPr>
          <p:cNvPr id="92" name="TextBox 91"/>
          <p:cNvSpPr txBox="1"/>
          <p:nvPr/>
        </p:nvSpPr>
        <p:spPr>
          <a:xfrm>
            <a:off x="4911634" y="6002214"/>
            <a:ext cx="7262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 </a:t>
            </a:r>
            <a:r>
              <a:rPr lang="en-US" sz="1200" dirty="0"/>
              <a:t>FPGA-controlled infrared imaging system was successfully </a:t>
            </a:r>
            <a:r>
              <a:rPr lang="en-US" sz="1200" dirty="0" smtClean="0"/>
              <a:t>implemented with verified </a:t>
            </a:r>
            <a:r>
              <a:rPr lang="en-US" sz="1200" dirty="0"/>
              <a:t>biasing, clock generation, and 12-bit pixel reconstruction logic</a:t>
            </a:r>
            <a:r>
              <a:rPr lang="en-US" sz="1200" dirty="0" smtClean="0"/>
              <a:t>.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The </a:t>
            </a:r>
            <a:r>
              <a:rPr lang="en-US" sz="1200" b="1" dirty="0" smtClean="0"/>
              <a:t>temperature-controlled electronics card</a:t>
            </a:r>
            <a:r>
              <a:rPr lang="en-US" sz="1200" dirty="0" smtClean="0"/>
              <a:t> for the detector is ready, and the system is prepared for the next stage of </a:t>
            </a:r>
            <a:r>
              <a:rPr lang="en-US" sz="1200" b="1" dirty="0" smtClean="0"/>
              <a:t>offline image reconstruction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5459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</TotalTime>
  <Words>287</Words>
  <Application>Microsoft Office PowerPoint</Application>
  <PresentationFormat>Widescreen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san</cp:lastModifiedBy>
  <cp:revision>81</cp:revision>
  <dcterms:created xsi:type="dcterms:W3CDTF">2017-11-15T06:25:27Z</dcterms:created>
  <dcterms:modified xsi:type="dcterms:W3CDTF">2025-07-08T10:05:45Z</dcterms:modified>
</cp:coreProperties>
</file>